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10610850"/>
  <p:notesSz cx="1061085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145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926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0" y="58925"/>
            <a:ext cx="1218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Processing: Complete Execution Flow</a:t>
            </a:r>
            <a:endParaRPr lang="en-US" sz="1600" dirty="0"/>
          </a:p>
        </p:txBody>
      </p:sp>
      <p:sp>
        <p:nvSpPr>
          <p:cNvPr id="3" name="subtitle"/>
          <p:cNvSpPr txBox="1"/>
          <p:nvPr/>
        </p:nvSpPr>
        <p:spPr>
          <a:xfrm>
            <a:off x="0" y="448056"/>
            <a:ext cx="1218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10 MVC   |   SQL Server   |   RabbitMQ   |   Background Worker   |   PostgreSQL   |   Redis</a:t>
            </a:r>
            <a:endParaRPr lang="en-US" sz="1600" dirty="0"/>
          </a:p>
        </p:txBody>
      </p:sp>
      <p:sp>
        <p:nvSpPr>
          <p:cNvPr id="4" name="box-1"/>
          <p:cNvSpPr/>
          <p:nvPr/>
        </p:nvSpPr>
        <p:spPr>
          <a:xfrm>
            <a:off x="394348" y="695487"/>
            <a:ext cx="7313371" cy="716997"/>
          </a:xfrm>
          <a:prstGeom prst="roundRect">
            <a:avLst>
              <a:gd name="adj" fmla="val 7652"/>
            </a:avLst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Browser  |  POST /Orders/Create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CustomerId,  Items[i].ProductId,  Items[i].Quantity,  AdvanceAmount</a:t>
            </a:r>
            <a:endParaRPr lang="en-US" sz="1600" dirty="0"/>
          </a:p>
        </p:txBody>
      </p:sp>
      <p:sp>
        <p:nvSpPr>
          <p:cNvPr id="5" name="box-2"/>
          <p:cNvSpPr/>
          <p:nvPr/>
        </p:nvSpPr>
        <p:spPr>
          <a:xfrm>
            <a:off x="394348" y="1641924"/>
            <a:ext cx="7313371" cy="716997"/>
          </a:xfrm>
          <a:prstGeom prst="roundRect">
            <a:avLst>
              <a:gd name="adj" fmla="val 7652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OrdersController.Create   -&gt;   OrderService.CreateOrderAsync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prices re-read from the catalogue, TotalAmount computed server side</a:t>
            </a:r>
            <a:endParaRPr lang="en-US" sz="1600" dirty="0"/>
          </a:p>
        </p:txBody>
      </p:sp>
      <p:sp>
        <p:nvSpPr>
          <p:cNvPr id="6" name="arrow-3"/>
          <p:cNvSpPr/>
          <p:nvPr/>
        </p:nvSpPr>
        <p:spPr>
          <a:xfrm>
            <a:off x="4051034" y="1412484"/>
            <a:ext cx="0" cy="229439"/>
          </a:xfrm>
          <a:prstGeom prst="line">
            <a:avLst/>
          </a:prstGeom>
          <a:noFill/>
          <a:ln w="19050">
            <a:solidFill>
              <a:srgbClr val="39414F"/>
            </a:solidFill>
            <a:prstDash val="solid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box-4"/>
          <p:cNvSpPr/>
          <p:nvPr/>
        </p:nvSpPr>
        <p:spPr>
          <a:xfrm>
            <a:off x="394348" y="2588360"/>
            <a:ext cx="3513286" cy="946436"/>
          </a:xfrm>
          <a:prstGeom prst="roundRect">
            <a:avLst>
              <a:gd name="adj" fmla="val 5797"/>
            </a:avLst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rgbClr val="A8322D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SQL Server  |  INSERT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 +  OrderDetails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Received</a:t>
            </a:r>
            <a:endParaRPr lang="en-US" sz="1600" dirty="0"/>
          </a:p>
        </p:txBody>
      </p:sp>
      <p:sp>
        <p:nvSpPr>
          <p:cNvPr id="8" name="box-5"/>
          <p:cNvSpPr/>
          <p:nvPr/>
        </p:nvSpPr>
        <p:spPr>
          <a:xfrm>
            <a:off x="4194433" y="2588360"/>
            <a:ext cx="3513286" cy="946436"/>
          </a:xfrm>
          <a:prstGeom prst="roundRect">
            <a:avLst>
              <a:gd name="adj" fmla="val 5797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D82C2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2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Redis  |  activity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LPUSH  orders:list:received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  orders:count:received</a:t>
            </a:r>
            <a:endParaRPr lang="en-US" sz="1600" dirty="0"/>
          </a:p>
        </p:txBody>
      </p:sp>
      <p:sp>
        <p:nvSpPr>
          <p:cNvPr id="9" name="arrow-6"/>
          <p:cNvSpPr/>
          <p:nvPr/>
        </p:nvSpPr>
        <p:spPr>
          <a:xfrm>
            <a:off x="2150992" y="2358921"/>
            <a:ext cx="0" cy="229439"/>
          </a:xfrm>
          <a:prstGeom prst="line">
            <a:avLst/>
          </a:prstGeom>
          <a:noFill/>
          <a:ln w="19050">
            <a:solidFill>
              <a:srgbClr val="39414F"/>
            </a:solidFill>
            <a:prstDash val="solid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arrow-7"/>
          <p:cNvSpPr/>
          <p:nvPr/>
        </p:nvSpPr>
        <p:spPr>
          <a:xfrm>
            <a:off x="5951077" y="2358921"/>
            <a:ext cx="0" cy="229439"/>
          </a:xfrm>
          <a:prstGeom prst="line">
            <a:avLst/>
          </a:prstGeom>
          <a:noFill/>
          <a:ln w="19050">
            <a:solidFill>
              <a:srgbClr val="39414F"/>
            </a:solidFill>
            <a:prstDash val="solid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1" name="box-8"/>
          <p:cNvSpPr/>
          <p:nvPr/>
        </p:nvSpPr>
        <p:spPr>
          <a:xfrm>
            <a:off x="394348" y="3678196"/>
            <a:ext cx="7313371" cy="716997"/>
          </a:xfrm>
          <a:prstGeom prst="roundRect">
            <a:avLst>
              <a:gd name="adj" fmla="val 7652"/>
            </a:avLst>
          </a:prstGeom>
          <a:solidFill>
            <a:srgbClr val="92D050"/>
          </a:solidFill>
          <a:ln w="19050">
            <a:solidFill>
              <a:srgbClr val="D9650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RabbitMQ  |  BasicPublishAsync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exchange  -&gt;  order-processing-queue  (durable, persistent)     then  Status = Queued</a:t>
            </a:r>
            <a:endParaRPr lang="en-US" sz="1600" dirty="0"/>
          </a:p>
        </p:txBody>
      </p:sp>
      <p:sp>
        <p:nvSpPr>
          <p:cNvPr id="12" name="arrow-9"/>
          <p:cNvSpPr/>
          <p:nvPr/>
        </p:nvSpPr>
        <p:spPr>
          <a:xfrm>
            <a:off x="2150992" y="3534796"/>
            <a:ext cx="0" cy="143399"/>
          </a:xfrm>
          <a:prstGeom prst="line">
            <a:avLst/>
          </a:prstGeom>
          <a:noFill/>
          <a:ln w="19050">
            <a:solidFill>
              <a:srgbClr val="39414F"/>
            </a:solidFill>
            <a:prstDash val="solid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box-10"/>
          <p:cNvSpPr/>
          <p:nvPr/>
        </p:nvSpPr>
        <p:spPr>
          <a:xfrm>
            <a:off x="394348" y="4624632"/>
            <a:ext cx="7313371" cy="716997"/>
          </a:xfrm>
          <a:prstGeom prst="roundRect">
            <a:avLst>
              <a:gd name="adj" fmla="val 7652"/>
            </a:avLst>
          </a:prstGeom>
          <a:solidFill>
            <a:schemeClr val="accent5"/>
          </a:solidFill>
          <a:ln w="19050">
            <a:solidFill>
              <a:srgbClr val="6B21A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OrderProcessingWorker  |  BackgroundService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AsyncEventingBasicConsumer,  autoAck: false,  prefetch = 1     then  Status = Processing</a:t>
            </a:r>
            <a:endParaRPr lang="en-US" sz="1600" dirty="0"/>
          </a:p>
        </p:txBody>
      </p:sp>
      <p:sp>
        <p:nvSpPr>
          <p:cNvPr id="14" name="arrow-11"/>
          <p:cNvSpPr/>
          <p:nvPr/>
        </p:nvSpPr>
        <p:spPr>
          <a:xfrm>
            <a:off x="4051034" y="4395193"/>
            <a:ext cx="0" cy="229439"/>
          </a:xfrm>
          <a:prstGeom prst="line">
            <a:avLst/>
          </a:prstGeom>
          <a:noFill/>
          <a:ln w="19050">
            <a:solidFill>
              <a:srgbClr val="39414F"/>
            </a:solidFill>
            <a:prstDash val="solid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5" name="decision"/>
          <p:cNvSpPr/>
          <p:nvPr/>
        </p:nvSpPr>
        <p:spPr>
          <a:xfrm>
            <a:off x="1326445" y="5664278"/>
            <a:ext cx="5449179" cy="1218895"/>
          </a:xfrm>
          <a:prstGeom prst="diamond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AdvanceAmount / TotalAmount  &gt;=  50% ?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OrderProcessing:MinimumAdvancePercentage</a:t>
            </a:r>
            <a:endParaRPr lang="en-US" sz="1600" dirty="0"/>
          </a:p>
        </p:txBody>
      </p:sp>
      <p:sp>
        <p:nvSpPr>
          <p:cNvPr id="16" name="arrow-12"/>
          <p:cNvSpPr/>
          <p:nvPr/>
        </p:nvSpPr>
        <p:spPr>
          <a:xfrm>
            <a:off x="4051034" y="5341629"/>
            <a:ext cx="0" cy="322649"/>
          </a:xfrm>
          <a:prstGeom prst="line">
            <a:avLst/>
          </a:prstGeom>
          <a:noFill/>
          <a:ln w="19050">
            <a:solidFill>
              <a:srgbClr val="39414F"/>
            </a:solidFill>
            <a:prstDash val="solid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7" name="box-13"/>
          <p:cNvSpPr/>
          <p:nvPr/>
        </p:nvSpPr>
        <p:spPr>
          <a:xfrm>
            <a:off x="394348" y="7026572"/>
            <a:ext cx="3513286" cy="946436"/>
          </a:xfrm>
          <a:prstGeom prst="roundRect">
            <a:avLst>
              <a:gd name="adj" fmla="val 5797"/>
            </a:avLst>
          </a:prstGeom>
          <a:solidFill>
            <a:srgbClr val="C00000"/>
          </a:solidFill>
          <a:ln w="19050">
            <a:solidFill>
              <a:srgbClr val="33679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7a.  PostgreSQL  |  Accepted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 processed_orders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= 'Accepted'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8" name="box-14"/>
          <p:cNvSpPr/>
          <p:nvPr/>
        </p:nvSpPr>
        <p:spPr>
          <a:xfrm>
            <a:off x="4194433" y="7026572"/>
            <a:ext cx="3513286" cy="946436"/>
          </a:xfrm>
          <a:prstGeom prst="roundRect">
            <a:avLst>
              <a:gd name="adj" fmla="val 5797"/>
            </a:avLst>
          </a:prstGeom>
          <a:solidFill>
            <a:srgbClr val="C00000"/>
          </a:solidFill>
          <a:ln w="19050">
            <a:solidFill>
              <a:srgbClr val="33679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7b.  PostgreSQL  |  Rejected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 processed_orders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= 'Rejected'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9" name="arrow-15"/>
          <p:cNvSpPr/>
          <p:nvPr/>
        </p:nvSpPr>
        <p:spPr>
          <a:xfrm>
            <a:off x="1326445" y="6273725"/>
            <a:ext cx="824547" cy="752847"/>
          </a:xfrm>
          <a:prstGeom prst="line">
            <a:avLst/>
          </a:prstGeom>
          <a:noFill/>
          <a:ln w="19050">
            <a:solidFill>
              <a:srgbClr val="39414F"/>
            </a:solidFill>
            <a:prstDash val="solid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20" name="arrow-16"/>
          <p:cNvSpPr/>
          <p:nvPr/>
        </p:nvSpPr>
        <p:spPr>
          <a:xfrm flipH="1">
            <a:off x="5951077" y="6273725"/>
            <a:ext cx="824547" cy="752847"/>
          </a:xfrm>
          <a:prstGeom prst="line">
            <a:avLst/>
          </a:prstGeom>
          <a:noFill/>
          <a:ln w="19050">
            <a:solidFill>
              <a:srgbClr val="39414F"/>
            </a:solidFill>
            <a:prstDash val="solid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21" name="label-17"/>
          <p:cNvSpPr txBox="1"/>
          <p:nvPr/>
        </p:nvSpPr>
        <p:spPr>
          <a:xfrm>
            <a:off x="1075496" y="6596170"/>
            <a:ext cx="6452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600" dirty="0"/>
          </a:p>
        </p:txBody>
      </p:sp>
      <p:sp>
        <p:nvSpPr>
          <p:cNvPr id="22" name="label-18"/>
          <p:cNvSpPr txBox="1"/>
          <p:nvPr/>
        </p:nvSpPr>
        <p:spPr>
          <a:xfrm>
            <a:off x="6381275" y="6596170"/>
            <a:ext cx="6452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600" dirty="0"/>
          </a:p>
        </p:txBody>
      </p:sp>
      <p:sp>
        <p:nvSpPr>
          <p:cNvPr id="23" name="box-19"/>
          <p:cNvSpPr/>
          <p:nvPr/>
        </p:nvSpPr>
        <p:spPr>
          <a:xfrm>
            <a:off x="394348" y="8173768"/>
            <a:ext cx="3513286" cy="946436"/>
          </a:xfrm>
          <a:prstGeom prst="roundRect">
            <a:avLst>
              <a:gd name="adj" fmla="val 5797"/>
            </a:avLst>
          </a:prstGeom>
          <a:solidFill>
            <a:srgbClr val="7030A0"/>
          </a:solidFill>
          <a:ln w="19050">
            <a:solidFill>
              <a:srgbClr val="A8322D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SQL Server  |  UPDATE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Accepted / Rejected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StatusMessage,  ProcessedOn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24" name="box-20"/>
          <p:cNvSpPr/>
          <p:nvPr/>
        </p:nvSpPr>
        <p:spPr>
          <a:xfrm>
            <a:off x="4194433" y="8173768"/>
            <a:ext cx="3513286" cy="946436"/>
          </a:xfrm>
          <a:prstGeom prst="roundRect">
            <a:avLst>
              <a:gd name="adj" fmla="val 5797"/>
            </a:avLst>
          </a:prstGeom>
          <a:solidFill>
            <a:srgbClr val="7030A0"/>
          </a:solidFill>
          <a:ln w="19050">
            <a:solidFill>
              <a:srgbClr val="D82C2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Redis  |  activity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LPUSH  orders:list:processed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  accepted / rejected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25" name="arrow-21"/>
          <p:cNvSpPr/>
          <p:nvPr/>
        </p:nvSpPr>
        <p:spPr>
          <a:xfrm>
            <a:off x="2150992" y="7973009"/>
            <a:ext cx="0" cy="200759"/>
          </a:xfrm>
          <a:prstGeom prst="line">
            <a:avLst/>
          </a:prstGeom>
          <a:noFill/>
          <a:ln w="19050">
            <a:solidFill>
              <a:srgbClr val="39414F"/>
            </a:solidFill>
            <a:prstDash val="solid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26" name="arrow-22"/>
          <p:cNvSpPr/>
          <p:nvPr/>
        </p:nvSpPr>
        <p:spPr>
          <a:xfrm>
            <a:off x="5951077" y="7973009"/>
            <a:ext cx="0" cy="200759"/>
          </a:xfrm>
          <a:prstGeom prst="line">
            <a:avLst/>
          </a:prstGeom>
          <a:noFill/>
          <a:ln w="19050">
            <a:solidFill>
              <a:srgbClr val="39414F"/>
            </a:solidFill>
            <a:prstDash val="solid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27" name="box-23"/>
          <p:cNvSpPr/>
          <p:nvPr/>
        </p:nvSpPr>
        <p:spPr>
          <a:xfrm>
            <a:off x="394348" y="9335303"/>
            <a:ext cx="7313371" cy="487558"/>
          </a:xfrm>
          <a:prstGeom prst="roundRect">
            <a:avLst>
              <a:gd name="adj" fmla="val 11253"/>
            </a:avLst>
          </a:prstGeom>
          <a:solidFill>
            <a:srgbClr val="FFC000"/>
          </a:solidFill>
          <a:ln w="19050">
            <a:solidFill>
              <a:srgbClr val="6B21A8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BasicAckAsync      (on failure:  BasicNackAsync requeue: false,  Status = Failed)</a:t>
            </a:r>
            <a:endParaRPr lang="en-US" sz="1600" dirty="0"/>
          </a:p>
        </p:txBody>
      </p:sp>
      <p:sp>
        <p:nvSpPr>
          <p:cNvPr id="28" name="arrow-24"/>
          <p:cNvSpPr/>
          <p:nvPr/>
        </p:nvSpPr>
        <p:spPr>
          <a:xfrm>
            <a:off x="2150992" y="9120204"/>
            <a:ext cx="0" cy="215099"/>
          </a:xfrm>
          <a:prstGeom prst="line">
            <a:avLst/>
          </a:prstGeom>
          <a:noFill/>
          <a:ln w="19050">
            <a:solidFill>
              <a:srgbClr val="39414F"/>
            </a:solidFill>
            <a:prstDash val="solid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29" name="arrow-25"/>
          <p:cNvSpPr/>
          <p:nvPr/>
        </p:nvSpPr>
        <p:spPr>
          <a:xfrm>
            <a:off x="5951077" y="9120204"/>
            <a:ext cx="0" cy="215099"/>
          </a:xfrm>
          <a:prstGeom prst="line">
            <a:avLst/>
          </a:prstGeom>
          <a:noFill/>
          <a:ln w="19050">
            <a:solidFill>
              <a:srgbClr val="39414F"/>
            </a:solidFill>
            <a:prstDash val="solid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30" name="box-26"/>
          <p:cNvSpPr/>
          <p:nvPr/>
        </p:nvSpPr>
        <p:spPr>
          <a:xfrm>
            <a:off x="394348" y="10037960"/>
            <a:ext cx="7313371" cy="487558"/>
          </a:xfrm>
          <a:prstGeom prst="roundRect">
            <a:avLst>
              <a:gd name="adj" fmla="val 11253"/>
            </a:avLst>
          </a:prstGeom>
          <a:solidFill>
            <a:srgbClr val="E8EFFD"/>
          </a:solidFill>
          <a:ln w="19050">
            <a:solidFill>
              <a:srgbClr val="2563E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Read models:   /Orders/Status (SQL Server)    |    /Orders/Processed (PostgreSQL)    |    /  (Redis)</a:t>
            </a:r>
            <a:endParaRPr lang="en-US" sz="1600" dirty="0"/>
          </a:p>
        </p:txBody>
      </p:sp>
      <p:sp>
        <p:nvSpPr>
          <p:cNvPr id="31" name="arrow-27"/>
          <p:cNvSpPr/>
          <p:nvPr/>
        </p:nvSpPr>
        <p:spPr>
          <a:xfrm>
            <a:off x="4051034" y="9822861"/>
            <a:ext cx="0" cy="215099"/>
          </a:xfrm>
          <a:prstGeom prst="line">
            <a:avLst/>
          </a:prstGeom>
          <a:noFill/>
          <a:ln w="19050">
            <a:solidFill>
              <a:srgbClr val="39414F"/>
            </a:solidFill>
            <a:prstDash val="solid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32" name="health-panel"/>
          <p:cNvSpPr/>
          <p:nvPr/>
        </p:nvSpPr>
        <p:spPr>
          <a:xfrm>
            <a:off x="8066218" y="645297"/>
            <a:ext cx="3871785" cy="9880221"/>
          </a:xfrm>
          <a:prstGeom prst="roundRect">
            <a:avLst>
              <a:gd name="adj" fmla="val 1181"/>
            </a:avLst>
          </a:prstGeom>
          <a:solidFill>
            <a:srgbClr val="FBFCFD"/>
          </a:solidFill>
          <a:ln w="15875">
            <a:solidFill>
              <a:srgbClr val="C7D0DC"/>
            </a:solidFill>
            <a:prstDash val="dash"/>
          </a:ln>
        </p:spPr>
        <p:txBody>
          <a:bodyPr/>
          <a:lstStyle/>
          <a:p>
            <a:endParaRPr lang="en-US" sz="1600"/>
          </a:p>
        </p:txBody>
      </p:sp>
      <p:sp>
        <p:nvSpPr>
          <p:cNvPr id="33" name="health-title"/>
          <p:cNvSpPr txBox="1"/>
          <p:nvPr/>
        </p:nvSpPr>
        <p:spPr>
          <a:xfrm>
            <a:off x="8066218" y="749942"/>
            <a:ext cx="38717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600" dirty="0"/>
          </a:p>
        </p:txBody>
      </p:sp>
      <p:sp>
        <p:nvSpPr>
          <p:cNvPr id="34" name="label-28"/>
          <p:cNvSpPr txBox="1"/>
          <p:nvPr/>
        </p:nvSpPr>
        <p:spPr>
          <a:xfrm>
            <a:off x="8066218" y="1060951"/>
            <a:ext cx="38717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independently of the order pipeline</a:t>
            </a:r>
            <a:endParaRPr lang="en-US" sz="1600" b="1" dirty="0"/>
          </a:p>
        </p:txBody>
      </p:sp>
      <p:sp>
        <p:nvSpPr>
          <p:cNvPr id="35" name="box-29"/>
          <p:cNvSpPr/>
          <p:nvPr/>
        </p:nvSpPr>
        <p:spPr>
          <a:xfrm>
            <a:off x="8209618" y="1469844"/>
            <a:ext cx="3584986" cy="752847"/>
          </a:xfrm>
          <a:prstGeom prst="roundRect">
            <a:avLst>
              <a:gd name="adj" fmla="val 7288"/>
            </a:avLst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AddHealthChecks()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probes registered in Program.cs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36" name="arrow-30"/>
          <p:cNvSpPr/>
          <p:nvPr/>
        </p:nvSpPr>
        <p:spPr>
          <a:xfrm>
            <a:off x="10002111" y="2222691"/>
            <a:ext cx="0" cy="258119"/>
          </a:xfrm>
          <a:prstGeom prst="line">
            <a:avLst/>
          </a:prstGeom>
          <a:noFill/>
          <a:ln w="19050">
            <a:solidFill>
              <a:srgbClr val="39414F"/>
            </a:solidFill>
            <a:prstDash val="solid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37" name="endpoint-31"/>
          <p:cNvSpPr/>
          <p:nvPr/>
        </p:nvSpPr>
        <p:spPr>
          <a:xfrm>
            <a:off x="8209618" y="2538170"/>
            <a:ext cx="3584986" cy="516238"/>
          </a:xfrm>
          <a:prstGeom prst="roundRect">
            <a:avLst>
              <a:gd name="adj" fmla="val 8856"/>
            </a:avLst>
          </a:prstGeom>
          <a:solidFill>
            <a:schemeClr val="accent1">
              <a:lumMod val="40000"/>
              <a:lumOff val="60000"/>
            </a:schemeClr>
          </a:solidFill>
          <a:ln w="13970">
            <a:solidFill>
              <a:srgbClr val="A6C2B2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checks, custom JSON</a:t>
            </a:r>
            <a:endParaRPr lang="en-US" sz="1600" dirty="0"/>
          </a:p>
        </p:txBody>
      </p:sp>
      <p:sp>
        <p:nvSpPr>
          <p:cNvPr id="38" name="endpoint-32"/>
          <p:cNvSpPr/>
          <p:nvPr/>
        </p:nvSpPr>
        <p:spPr>
          <a:xfrm>
            <a:off x="8209618" y="3140448"/>
            <a:ext cx="3584986" cy="516238"/>
          </a:xfrm>
          <a:prstGeom prst="roundRect">
            <a:avLst>
              <a:gd name="adj" fmla="val 8856"/>
            </a:avLst>
          </a:prstGeom>
          <a:solidFill>
            <a:schemeClr val="accent1">
              <a:lumMod val="40000"/>
              <a:lumOff val="60000"/>
            </a:schemeClr>
          </a:solidFill>
          <a:ln w="13970">
            <a:solidFill>
              <a:srgbClr val="A6C2B2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/health/ready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checks tagged "ready"</a:t>
            </a:r>
            <a:endParaRPr lang="en-US" sz="1600" dirty="0"/>
          </a:p>
        </p:txBody>
      </p:sp>
      <p:sp>
        <p:nvSpPr>
          <p:cNvPr id="39" name="endpoint-33"/>
          <p:cNvSpPr/>
          <p:nvPr/>
        </p:nvSpPr>
        <p:spPr>
          <a:xfrm>
            <a:off x="8209618" y="3742725"/>
            <a:ext cx="3584986" cy="516238"/>
          </a:xfrm>
          <a:prstGeom prst="roundRect">
            <a:avLst>
              <a:gd name="adj" fmla="val 8856"/>
            </a:avLst>
          </a:prstGeom>
          <a:solidFill>
            <a:schemeClr val="accent1">
              <a:lumMod val="40000"/>
              <a:lumOff val="60000"/>
            </a:schemeClr>
          </a:solidFill>
          <a:ln w="13970">
            <a:solidFill>
              <a:srgbClr val="A6C2B2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/health/live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liveness, Predicate = _ =&gt; false</a:t>
            </a:r>
            <a:endParaRPr lang="en-US" sz="1600" dirty="0"/>
          </a:p>
        </p:txBody>
      </p:sp>
      <p:sp>
        <p:nvSpPr>
          <p:cNvPr id="40" name="endpoint-34"/>
          <p:cNvSpPr/>
          <p:nvPr/>
        </p:nvSpPr>
        <p:spPr>
          <a:xfrm>
            <a:off x="8209618" y="4345003"/>
            <a:ext cx="3584986" cy="516238"/>
          </a:xfrm>
          <a:prstGeom prst="roundRect">
            <a:avLst>
              <a:gd name="adj" fmla="val 8856"/>
            </a:avLst>
          </a:prstGeom>
          <a:solidFill>
            <a:schemeClr val="accent1">
              <a:lumMod val="40000"/>
              <a:lumOff val="60000"/>
            </a:schemeClr>
          </a:solidFill>
          <a:ln w="13970">
            <a:solidFill>
              <a:srgbClr val="A6C2B2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/health/ui-data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UIResponseWriter payload</a:t>
            </a:r>
            <a:endParaRPr lang="en-US" sz="1600" dirty="0"/>
          </a:p>
        </p:txBody>
      </p:sp>
      <p:sp>
        <p:nvSpPr>
          <p:cNvPr id="41" name="endpoint-35"/>
          <p:cNvSpPr/>
          <p:nvPr/>
        </p:nvSpPr>
        <p:spPr>
          <a:xfrm>
            <a:off x="8209618" y="4947281"/>
            <a:ext cx="3584986" cy="516238"/>
          </a:xfrm>
          <a:prstGeom prst="roundRect">
            <a:avLst>
              <a:gd name="adj" fmla="val 8856"/>
            </a:avLst>
          </a:prstGeom>
          <a:solidFill>
            <a:schemeClr val="accent1">
              <a:lumMod val="40000"/>
              <a:lumOff val="60000"/>
            </a:schemeClr>
          </a:solidFill>
          <a:ln w="13970">
            <a:solidFill>
              <a:srgbClr val="A6C2B2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/health-ui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dashboard, every 15 s</a:t>
            </a:r>
            <a:endParaRPr lang="en-US" sz="1600" dirty="0"/>
          </a:p>
        </p:txBody>
      </p:sp>
      <p:sp>
        <p:nvSpPr>
          <p:cNvPr id="42" name="arrow-36"/>
          <p:cNvSpPr/>
          <p:nvPr/>
        </p:nvSpPr>
        <p:spPr>
          <a:xfrm>
            <a:off x="10002111" y="5463518"/>
            <a:ext cx="0" cy="401518"/>
          </a:xfrm>
          <a:prstGeom prst="line">
            <a:avLst/>
          </a:prstGeom>
          <a:noFill/>
          <a:ln w="19050">
            <a:solidFill>
              <a:srgbClr val="39414F"/>
            </a:solidFill>
            <a:prstDash val="solid"/>
            <a:tailEnd type="triangle"/>
          </a:ln>
        </p:spPr>
        <p:txBody>
          <a:bodyPr/>
          <a:lstStyle/>
          <a:p>
            <a:endParaRPr lang="en-US" sz="1600"/>
          </a:p>
        </p:txBody>
      </p:sp>
      <p:sp>
        <p:nvSpPr>
          <p:cNvPr id="43" name="label-37"/>
          <p:cNvSpPr txBox="1"/>
          <p:nvPr/>
        </p:nvSpPr>
        <p:spPr>
          <a:xfrm>
            <a:off x="8209618" y="5936532"/>
            <a:ext cx="35849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probe runs on every request</a:t>
            </a:r>
            <a:endParaRPr lang="en-US" sz="1600" dirty="0"/>
          </a:p>
        </p:txBody>
      </p:sp>
      <p:sp>
        <p:nvSpPr>
          <p:cNvPr id="44" name="card-38"/>
          <p:cNvSpPr/>
          <p:nvPr/>
        </p:nvSpPr>
        <p:spPr>
          <a:xfrm>
            <a:off x="8209618" y="6445805"/>
            <a:ext cx="3584986" cy="616618"/>
          </a:xfrm>
          <a:prstGeom prst="roundRect">
            <a:avLst>
              <a:gd name="adj" fmla="val 7415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solidFill>
              <a:srgbClr val="A8322D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832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sql-server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AddSqlServer   SELECT 1;</a:t>
            </a:r>
            <a:endParaRPr lang="en-US" sz="1600" dirty="0"/>
          </a:p>
        </p:txBody>
      </p:sp>
      <p:sp>
        <p:nvSpPr>
          <p:cNvPr id="45" name="tag-39"/>
          <p:cNvSpPr txBox="1"/>
          <p:nvPr/>
        </p:nvSpPr>
        <p:spPr>
          <a:xfrm>
            <a:off x="8209618" y="6482381"/>
            <a:ext cx="3502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</a:t>
            </a:r>
            <a:endParaRPr lang="en-US" sz="1600" dirty="0"/>
          </a:p>
        </p:txBody>
      </p:sp>
      <p:sp>
        <p:nvSpPr>
          <p:cNvPr id="46" name="card-40"/>
          <p:cNvSpPr/>
          <p:nvPr/>
        </p:nvSpPr>
        <p:spPr>
          <a:xfrm>
            <a:off x="8209618" y="7148462"/>
            <a:ext cx="3584986" cy="616618"/>
          </a:xfrm>
          <a:prstGeom prst="roundRect">
            <a:avLst>
              <a:gd name="adj" fmla="val 7415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rgbClr val="336791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67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AddNpgSql   SELECT 1;</a:t>
            </a:r>
            <a:endParaRPr lang="en-US" sz="1600" dirty="0"/>
          </a:p>
        </p:txBody>
      </p:sp>
      <p:sp>
        <p:nvSpPr>
          <p:cNvPr id="47" name="tag-41"/>
          <p:cNvSpPr txBox="1"/>
          <p:nvPr/>
        </p:nvSpPr>
        <p:spPr>
          <a:xfrm>
            <a:off x="8209618" y="7185038"/>
            <a:ext cx="3502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</a:t>
            </a:r>
            <a:endParaRPr lang="en-US" sz="1600" dirty="0"/>
          </a:p>
        </p:txBody>
      </p:sp>
      <p:sp>
        <p:nvSpPr>
          <p:cNvPr id="48" name="card-42"/>
          <p:cNvSpPr/>
          <p:nvPr/>
        </p:nvSpPr>
        <p:spPr>
          <a:xfrm>
            <a:off x="8209618" y="7851119"/>
            <a:ext cx="3584986" cy="616618"/>
          </a:xfrm>
          <a:prstGeom prst="roundRect">
            <a:avLst>
              <a:gd name="adj" fmla="val 7415"/>
            </a:avLst>
          </a:prstGeom>
          <a:solidFill>
            <a:srgbClr val="FF0000"/>
          </a:solidFill>
          <a:ln w="15875">
            <a:solidFill>
              <a:srgbClr val="D82C20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AddRedis   shared multiplexer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49" name="tag-43"/>
          <p:cNvSpPr txBox="1"/>
          <p:nvPr/>
        </p:nvSpPr>
        <p:spPr>
          <a:xfrm>
            <a:off x="8209618" y="7887695"/>
            <a:ext cx="3502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50" name="card-44"/>
          <p:cNvSpPr/>
          <p:nvPr/>
        </p:nvSpPr>
        <p:spPr>
          <a:xfrm>
            <a:off x="8209618" y="8553776"/>
            <a:ext cx="3584986" cy="616618"/>
          </a:xfrm>
          <a:prstGeom prst="roundRect">
            <a:avLst>
              <a:gd name="adj" fmla="val 7415"/>
            </a:avLst>
          </a:prstGeom>
          <a:solidFill>
            <a:srgbClr val="FF0000"/>
          </a:solidFill>
          <a:ln w="15875">
            <a:solidFill>
              <a:srgbClr val="D96500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rabbitmq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AddRabbitMQ   async factory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51" name="tag-45"/>
          <p:cNvSpPr txBox="1"/>
          <p:nvPr/>
        </p:nvSpPr>
        <p:spPr>
          <a:xfrm>
            <a:off x="8209618" y="8590352"/>
            <a:ext cx="3502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52" name="box-46"/>
          <p:cNvSpPr/>
          <p:nvPr/>
        </p:nvSpPr>
        <p:spPr>
          <a:xfrm>
            <a:off x="8209618" y="9270773"/>
            <a:ext cx="3584986" cy="946436"/>
          </a:xfrm>
          <a:prstGeom prst="roundRect">
            <a:avLst>
              <a:gd name="adj" fmla="val 5797"/>
            </a:avLst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status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entry wins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-&gt; 200       Unhealthy -&gt; 503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53" name="arrow-47"/>
          <p:cNvSpPr/>
          <p:nvPr/>
        </p:nvSpPr>
        <p:spPr>
          <a:xfrm>
            <a:off x="10002111" y="9170394"/>
            <a:ext cx="0" cy="100380"/>
          </a:xfrm>
          <a:prstGeom prst="line">
            <a:avLst/>
          </a:prstGeom>
          <a:noFill/>
          <a:ln w="19050">
            <a:solidFill>
              <a:srgbClr val="39414F"/>
            </a:solidFill>
            <a:prstDash val="solid"/>
            <a:tailEnd type="triangle"/>
          </a:ln>
        </p:spPr>
        <p:txBody>
          <a:bodyPr/>
          <a:lstStyle/>
          <a:p>
            <a:endParaRPr 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343</Words>
  <Application>Microsoft Office PowerPoint</Application>
  <PresentationFormat>Custom</PresentationFormat>
  <Paragraphs>65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Courier New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 Processing Execution Flow</dc:title>
  <dc:subject>PptxGenJS Presentation</dc:subject>
  <dc:creator>PptxGenJS</dc:creator>
  <cp:lastModifiedBy>Mahesh Sabnis</cp:lastModifiedBy>
  <cp:revision>3</cp:revision>
  <dcterms:created xsi:type="dcterms:W3CDTF">2026-10-06T09:56:12Z</dcterms:created>
  <dcterms:modified xsi:type="dcterms:W3CDTF">2026-10-06T10:09:41Z</dcterms:modified>
</cp:coreProperties>
</file>